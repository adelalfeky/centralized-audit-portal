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7" r:id="rId1"/>
  </p:sldMasterIdLst>
  <p:notesMasterIdLst>
    <p:notesMasterId r:id="rId3"/>
  </p:notesMasterIdLst>
  <p:handoutMasterIdLst>
    <p:handoutMasterId r:id="rId4"/>
  </p:handoutMasterIdLst>
  <p:sldIdLst>
    <p:sldId id="29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64" userDrawn="1">
          <p15:clr>
            <a:srgbClr val="A4A3A4"/>
          </p15:clr>
        </p15:guide>
        <p15:guide id="2" orient="horz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CFD"/>
    <a:srgbClr val="C1CCF6"/>
    <a:srgbClr val="D5BAEB"/>
    <a:srgbClr val="8E9DEF"/>
    <a:srgbClr val="A6EDD2"/>
    <a:srgbClr val="A3E6FF"/>
    <a:srgbClr val="FFFFFF"/>
    <a:srgbClr val="E0B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54225-342C-4132-BBEB-1AAE1FD4369E}" v="76" dt="2025-08-20T06:41:49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5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>
        <p:guide pos="6264"/>
        <p:guide orient="horz"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410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AD89C-BB88-48A3-A1C9-D13CF625B286}" type="datetimeFigureOut">
              <a:rPr lang="en-US" smtClean="0"/>
              <a:t>25-Nov-25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7205A-E1E8-4792-BFE4-BDA008854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09F21-8F1F-4129-8AEA-7EF5D9ADF331}" type="datetimeFigureOut">
              <a:rPr lang="en-US" smtClean="0"/>
              <a:t>25-Nov-25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C31BA-67D8-413F-A5DD-028125073D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C31BA-67D8-413F-A5DD-028125073D1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70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25-Nov-25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521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25-Nov-25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>
            <a:no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" y="1543050"/>
            <a:ext cx="11353800" cy="473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4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29172-4BF7-429F-BA25-7E9D1A4215EE}" type="datetimeFigureOut">
              <a:rPr lang="en-US" noProof="0" smtClean="0"/>
              <a:t>25-Nov-25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4780AE2-1278-AC42-FA58-C110C7687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9286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AF9566E-B752-F6D0-6449-3F74C40DF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190376" y="327376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E1A4D0B-C2F1-978D-EA7C-651FB2E0E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190376" y="380081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9CFEF97-FF8F-504F-E59E-F5B66E405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592039" y="4901973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A5FD84E-B5D2-F6C6-CA86-7CC061BD2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592039" y="384825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D1E061-AC4A-270E-3890-7A3F4B458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592039" y="433469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FC1EF0D-AAF7-CB2B-7AFA-95FAD94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592039" y="3324376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7F34683-013F-0545-22D8-F116F366E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92039" y="2954068"/>
            <a:ext cx="1037" cy="194790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BB840D4-0102-44FC-A7FB-6D84D2351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24473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F7EAF4-149F-36A9-5F0D-E7EB15DCD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743448" y="4889056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3E23EDB-3BAC-658D-0CB2-7A4B1DB70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086177" y="4487799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EBB76D-64E8-72A7-08C6-C8E9E5E9D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086177" y="396164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258630-9772-5AB1-EAF3-FFD2212A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352635" y="4276912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BC28ED-185B-1109-1E65-09AE0DD33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348792" y="4901973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7FAEE6-78BF-3DA7-5623-88948F205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352635" y="5575849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16A0D8-7968-2E92-58BA-A1C8D4935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469618" y="6330617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B7B494C-8888-457E-82D1-32EE6B401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474106" y="2934320"/>
            <a:ext cx="0" cy="339629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38A3F58-952C-4C6C-BE73-668B41F8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52635" y="2987092"/>
            <a:ext cx="0" cy="2588757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99176F8-BEEF-4A37-97C9-A7E859221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739331" y="2940603"/>
            <a:ext cx="0" cy="253630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0A5E395-38A3-4ED8-A1C1-7892BF5B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81444" y="2940603"/>
            <a:ext cx="4733" cy="1547196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5956150-D730-4D39-8E56-5123DA7B1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7473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8000C8A-C564-4106-9005-252681A7F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97756" y="225289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FAFA2FD-B58C-4CB3-83BF-D7037A44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22803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2CA40FF-E75F-4233-A382-4E9DE1FAC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47180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B2075F3-49F1-4561-B16C-A60D139B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89286" y="1794115"/>
            <a:ext cx="1" cy="45720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075AB11-BAD3-42E5-BC8F-B1153E21F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5504" y="2931465"/>
            <a:ext cx="0" cy="137160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E5CE1F8-570D-4885-B9A3-2539980A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474106" y="3521060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B4A596-1925-4CF0-8DDA-2DBE3E6B7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480289" y="4207285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9845EF-AB31-4EB7-ADFB-2543D9298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480289" y="4903109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D5F2CB-5BF2-4605-A7BB-3DBC9B1B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8352635" y="3577642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E9B743-2518-4E9D-9AE1-3998DBFB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739331" y="3777648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B40D0C-F84E-4462-89E4-D6DB85AB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741704" y="4318668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4CBFD5-6012-4BE2-83ED-90867D52F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741704" y="547380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77B15D-B0DE-401C-93B7-D8352DEE6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086177" y="3506225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04FCC3-2EDB-4E98-AD3D-D5848AE1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5504" y="3480105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4CD3FD-4CA2-4C9C-89C8-73F04D56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1687" y="4299255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C12CAFB-EB6F-4237-A8EF-4BED7D1D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469618" y="5592435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12543CF-3BD4-40B0-BB18-006DCC4331CA}"/>
              </a:ext>
            </a:extLst>
          </p:cNvPr>
          <p:cNvSpPr/>
          <p:nvPr/>
        </p:nvSpPr>
        <p:spPr>
          <a:xfrm>
            <a:off x="5186172" y="1270241"/>
            <a:ext cx="1828800" cy="537968"/>
          </a:xfrm>
          <a:prstGeom prst="rect">
            <a:avLst/>
          </a:prstGeom>
          <a:solidFill>
            <a:srgbClr val="0070C0"/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b="1" dirty="0">
              <a:solidFill>
                <a:schemeClr val="bg1"/>
              </a:solidFill>
            </a:endParaRPr>
          </a:p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 err="1">
                <a:solidFill>
                  <a:schemeClr val="bg1"/>
                </a:solidFill>
              </a:rPr>
              <a:t>Tahseer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21E8B07-0BC6-4DE6-B1E4-773C5D1F75EB}"/>
              </a:ext>
            </a:extLst>
          </p:cNvPr>
          <p:cNvSpPr/>
          <p:nvPr/>
        </p:nvSpPr>
        <p:spPr>
          <a:xfrm>
            <a:off x="7433" y="2420878"/>
            <a:ext cx="1097280" cy="5486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Strategy &amp; Performance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93299AE-BEEA-4E5E-88CB-50F2F112D78D}"/>
              </a:ext>
            </a:extLst>
          </p:cNvPr>
          <p:cNvSpPr/>
          <p:nvPr/>
        </p:nvSpPr>
        <p:spPr>
          <a:xfrm>
            <a:off x="262007" y="3273764"/>
            <a:ext cx="91440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PMO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C38D3DB-30B8-4A79-9C76-C565CFF33780}"/>
              </a:ext>
            </a:extLst>
          </p:cNvPr>
          <p:cNvSpPr/>
          <p:nvPr/>
        </p:nvSpPr>
        <p:spPr>
          <a:xfrm>
            <a:off x="273768" y="4073883"/>
            <a:ext cx="914400" cy="365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VSCs Setup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3AE564E-E1AB-422A-9067-1D83448922D2}"/>
              </a:ext>
            </a:extLst>
          </p:cNvPr>
          <p:cNvSpPr/>
          <p:nvPr/>
        </p:nvSpPr>
        <p:spPr>
          <a:xfrm>
            <a:off x="1362558" y="2420878"/>
            <a:ext cx="1097280" cy="5486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Digitization &amp; Technology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00EF2F1-621C-44D5-923A-283EAD95A813}"/>
              </a:ext>
            </a:extLst>
          </p:cNvPr>
          <p:cNvSpPr/>
          <p:nvPr/>
        </p:nvSpPr>
        <p:spPr>
          <a:xfrm>
            <a:off x="1693037" y="4013711"/>
            <a:ext cx="1366193" cy="365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chemeClr val="tx1"/>
                </a:solidFill>
              </a:rPr>
              <a:t>Solution Development &amp; Delivery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F7D30AD-3130-40C6-8BC9-7EE80B4B9A00}"/>
              </a:ext>
            </a:extLst>
          </p:cNvPr>
          <p:cNvSpPr/>
          <p:nvPr/>
        </p:nvSpPr>
        <p:spPr>
          <a:xfrm>
            <a:off x="1693036" y="4700864"/>
            <a:ext cx="1366195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chemeClr val="tx1"/>
                </a:solidFill>
              </a:rPr>
              <a:t>Platforms and IT Solution Operations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893426B-E83B-41DC-A793-6BBC6104B3A6}"/>
              </a:ext>
            </a:extLst>
          </p:cNvPr>
          <p:cNvSpPr/>
          <p:nvPr/>
        </p:nvSpPr>
        <p:spPr>
          <a:xfrm>
            <a:off x="1693041" y="5388017"/>
            <a:ext cx="1366185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chemeClr val="tx1"/>
                </a:solidFill>
              </a:rPr>
              <a:t>Infrastructure &amp; Operations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5612D2-B90B-47E9-B7AF-5CCA9F91F123}"/>
              </a:ext>
            </a:extLst>
          </p:cNvPr>
          <p:cNvSpPr/>
          <p:nvPr/>
        </p:nvSpPr>
        <p:spPr>
          <a:xfrm>
            <a:off x="1693042" y="6075172"/>
            <a:ext cx="1366183" cy="36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Corporate IT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84C8281-0D5E-4BF0-AB85-487647294920}"/>
              </a:ext>
            </a:extLst>
          </p:cNvPr>
          <p:cNvSpPr/>
          <p:nvPr/>
        </p:nvSpPr>
        <p:spPr>
          <a:xfrm>
            <a:off x="2717683" y="2420878"/>
            <a:ext cx="1097280" cy="548640"/>
          </a:xfrm>
          <a:prstGeom prst="rect">
            <a:avLst/>
          </a:prstGeom>
          <a:solidFill>
            <a:schemeClr val="accent3"/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Business Excellence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1AC151D-872D-4D73-AE29-952F653257C0}"/>
              </a:ext>
            </a:extLst>
          </p:cNvPr>
          <p:cNvSpPr/>
          <p:nvPr/>
        </p:nvSpPr>
        <p:spPr>
          <a:xfrm>
            <a:off x="5735933" y="3140945"/>
            <a:ext cx="91440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9118B4F-266C-48F0-8CAF-8BA67DF9A649}"/>
              </a:ext>
            </a:extLst>
          </p:cNvPr>
          <p:cNvSpPr/>
          <p:nvPr/>
        </p:nvSpPr>
        <p:spPr>
          <a:xfrm>
            <a:off x="8138183" y="2420878"/>
            <a:ext cx="1097280" cy="548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Operations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2FE95E2-7899-46D1-BD09-DBC69EBBF739}"/>
              </a:ext>
            </a:extLst>
          </p:cNvPr>
          <p:cNvSpPr/>
          <p:nvPr/>
        </p:nvSpPr>
        <p:spPr>
          <a:xfrm>
            <a:off x="8501555" y="3414067"/>
            <a:ext cx="914400" cy="36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VSCs Operations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2C318BC-6BF6-496E-9A8C-13F9CFE491B5}"/>
              </a:ext>
            </a:extLst>
          </p:cNvPr>
          <p:cNvSpPr/>
          <p:nvPr/>
        </p:nvSpPr>
        <p:spPr>
          <a:xfrm>
            <a:off x="9493308" y="2420878"/>
            <a:ext cx="1097280" cy="54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Finance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373F713-1680-4734-878B-86B182DC5AA6}"/>
              </a:ext>
            </a:extLst>
          </p:cNvPr>
          <p:cNvSpPr/>
          <p:nvPr/>
        </p:nvSpPr>
        <p:spPr>
          <a:xfrm>
            <a:off x="9854898" y="3535987"/>
            <a:ext cx="914400" cy="365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Accounting &amp; Treasury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EFA9A02-F4DD-44E9-86C2-C8ADA3189685}"/>
              </a:ext>
            </a:extLst>
          </p:cNvPr>
          <p:cNvSpPr/>
          <p:nvPr/>
        </p:nvSpPr>
        <p:spPr>
          <a:xfrm>
            <a:off x="9854090" y="4104237"/>
            <a:ext cx="914400" cy="365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Budgeting &amp; Planning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E16D351-7B7B-4FCF-8D90-11468672A1EC}"/>
              </a:ext>
            </a:extLst>
          </p:cNvPr>
          <p:cNvSpPr/>
          <p:nvPr/>
        </p:nvSpPr>
        <p:spPr>
          <a:xfrm>
            <a:off x="9854090" y="4672487"/>
            <a:ext cx="914400" cy="365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Financial Reporting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EED5A81-D106-422F-8455-CF5F456EB3E0}"/>
              </a:ext>
            </a:extLst>
          </p:cNvPr>
          <p:cNvSpPr/>
          <p:nvPr/>
        </p:nvSpPr>
        <p:spPr>
          <a:xfrm>
            <a:off x="10848431" y="2420878"/>
            <a:ext cx="1097280" cy="5486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Shared Services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D569EE8-357F-4061-8190-6041007FBE4B}"/>
              </a:ext>
            </a:extLst>
          </p:cNvPr>
          <p:cNvSpPr/>
          <p:nvPr/>
        </p:nvSpPr>
        <p:spPr>
          <a:xfrm>
            <a:off x="11218754" y="3285469"/>
            <a:ext cx="959043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Human Resources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98914-DAA7-B07E-DF81-78CDA39E0E1B}"/>
              </a:ext>
            </a:extLst>
          </p:cNvPr>
          <p:cNvSpPr/>
          <p:nvPr/>
        </p:nvSpPr>
        <p:spPr>
          <a:xfrm>
            <a:off x="5735933" y="3657786"/>
            <a:ext cx="91440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4D354-F1E5-52A3-02E0-56CDB1C10A3E}"/>
              </a:ext>
            </a:extLst>
          </p:cNvPr>
          <p:cNvSpPr/>
          <p:nvPr/>
        </p:nvSpPr>
        <p:spPr>
          <a:xfrm>
            <a:off x="1700046" y="3326558"/>
            <a:ext cx="1352175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chemeClr val="tx1"/>
                </a:solidFill>
              </a:rPr>
              <a:t>Tech Strategy &amp; Enterprise Architecture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F53E0C-6597-D61A-977C-03BAFDB73B56}"/>
              </a:ext>
            </a:extLst>
          </p:cNvPr>
          <p:cNvSpPr/>
          <p:nvPr/>
        </p:nvSpPr>
        <p:spPr>
          <a:xfrm>
            <a:off x="8501555" y="4032707"/>
            <a:ext cx="914400" cy="36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Field Operations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BD1408-C403-DB96-772C-3791BE761A5B}"/>
              </a:ext>
            </a:extLst>
          </p:cNvPr>
          <p:cNvSpPr/>
          <p:nvPr/>
        </p:nvSpPr>
        <p:spPr>
          <a:xfrm>
            <a:off x="8501555" y="5269988"/>
            <a:ext cx="914400" cy="36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Business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Operations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12263E-72FA-EB8B-5816-DE0C40020C21}"/>
              </a:ext>
            </a:extLst>
          </p:cNvPr>
          <p:cNvSpPr/>
          <p:nvPr/>
        </p:nvSpPr>
        <p:spPr>
          <a:xfrm>
            <a:off x="8501555" y="4651347"/>
            <a:ext cx="914400" cy="365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accent3">
                    <a:lumMod val="50000"/>
                  </a:schemeClr>
                </a:solidFill>
              </a:rPr>
              <a:t>Customer Care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4BF206-31C5-772F-C5BD-89D1D98F2F0A}"/>
              </a:ext>
            </a:extLst>
          </p:cNvPr>
          <p:cNvSpPr/>
          <p:nvPr/>
        </p:nvSpPr>
        <p:spPr>
          <a:xfrm>
            <a:off x="11238905" y="3769271"/>
            <a:ext cx="914400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Procurement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E6BA7C-EB13-3E0D-8F3A-53898E4F6189}"/>
              </a:ext>
            </a:extLst>
          </p:cNvPr>
          <p:cNvSpPr/>
          <p:nvPr/>
        </p:nvSpPr>
        <p:spPr>
          <a:xfrm>
            <a:off x="11238905" y="4264930"/>
            <a:ext cx="914400" cy="365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Admin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F33659-BC99-3A39-AF5C-1D77613A8294}"/>
              </a:ext>
            </a:extLst>
          </p:cNvPr>
          <p:cNvSpPr/>
          <p:nvPr/>
        </p:nvSpPr>
        <p:spPr>
          <a:xfrm>
            <a:off x="9854090" y="5226675"/>
            <a:ext cx="914400" cy="365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Financial Reporting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75470E1-752C-8597-60EB-5037DB973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27473" y="2249089"/>
            <a:ext cx="1106959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84436B9-E2EB-915B-42CD-792C0CAA7A3D}"/>
              </a:ext>
            </a:extLst>
          </p:cNvPr>
          <p:cNvSpPr/>
          <p:nvPr/>
        </p:nvSpPr>
        <p:spPr>
          <a:xfrm>
            <a:off x="5427933" y="2420878"/>
            <a:ext cx="1097280" cy="5486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GRR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1D276F-9841-84DB-DC51-450842C2B8E8}"/>
              </a:ext>
            </a:extLst>
          </p:cNvPr>
          <p:cNvSpPr/>
          <p:nvPr/>
        </p:nvSpPr>
        <p:spPr>
          <a:xfrm>
            <a:off x="6783058" y="2420878"/>
            <a:ext cx="1097280" cy="548640"/>
          </a:xfrm>
          <a:prstGeom prst="rect">
            <a:avLst/>
          </a:prstGeom>
          <a:solidFill>
            <a:schemeClr val="bg2">
              <a:lumMod val="6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Legal &amp; Regulatory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EFA183-7933-7A31-B95F-159AD7544820}"/>
              </a:ext>
            </a:extLst>
          </p:cNvPr>
          <p:cNvSpPr/>
          <p:nvPr/>
        </p:nvSpPr>
        <p:spPr>
          <a:xfrm>
            <a:off x="5735933" y="4174627"/>
            <a:ext cx="91440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A0F1AA5-B072-5656-4B07-60962ED7D7D7}"/>
              </a:ext>
            </a:extLst>
          </p:cNvPr>
          <p:cNvSpPr/>
          <p:nvPr/>
        </p:nvSpPr>
        <p:spPr>
          <a:xfrm>
            <a:off x="5735933" y="4691467"/>
            <a:ext cx="914400" cy="365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Cybersecurity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69C5BC7-B035-6353-3A6D-73C309B7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014972" y="4071701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F1A4573-4084-17EE-00CD-9928C2748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14972" y="2954068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AF3FBCF-CA55-9B78-2BCF-A6515D771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014972" y="3544618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6CC4815-4BB3-FB49-0F9A-3D6A465C4025}"/>
              </a:ext>
            </a:extLst>
          </p:cNvPr>
          <p:cNvSpPr/>
          <p:nvPr/>
        </p:nvSpPr>
        <p:spPr>
          <a:xfrm>
            <a:off x="7137626" y="3388450"/>
            <a:ext cx="914400" cy="365760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Legal Affairs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1552C50-0E04-466F-AB3B-193E6A726E3E}"/>
              </a:ext>
            </a:extLst>
          </p:cNvPr>
          <p:cNvSpPr/>
          <p:nvPr/>
        </p:nvSpPr>
        <p:spPr>
          <a:xfrm>
            <a:off x="7137626" y="3881323"/>
            <a:ext cx="914400" cy="365760"/>
          </a:xfrm>
          <a:prstGeom prst="rect">
            <a:avLst/>
          </a:prstGeom>
          <a:solidFill>
            <a:schemeClr val="bg2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Audit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AE2F538-25ED-9251-0487-9C49DA441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14972" y="3509261"/>
            <a:ext cx="0" cy="56244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BD7A2A0A-3227-C310-98D6-3B2F2F477969}"/>
              </a:ext>
            </a:extLst>
          </p:cNvPr>
          <p:cNvSpPr/>
          <p:nvPr/>
        </p:nvSpPr>
        <p:spPr>
          <a:xfrm>
            <a:off x="4072808" y="2420878"/>
            <a:ext cx="1097280" cy="5486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b="1" dirty="0">
                <a:solidFill>
                  <a:schemeClr val="tx1"/>
                </a:solidFill>
              </a:rPr>
              <a:t>Product &amp; Business Development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6B02477-6088-C1FA-B01B-53B8CEDC8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90376" y="2969518"/>
            <a:ext cx="0" cy="82778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E3D7F62B-9D0A-FFB3-1D75-429A3F51C885}"/>
              </a:ext>
            </a:extLst>
          </p:cNvPr>
          <p:cNvSpPr/>
          <p:nvPr/>
        </p:nvSpPr>
        <p:spPr>
          <a:xfrm>
            <a:off x="4330058" y="3131110"/>
            <a:ext cx="914400" cy="365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Business Development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353EE6C-6E72-C80F-EE9B-F01D2F6E7E73}"/>
              </a:ext>
            </a:extLst>
          </p:cNvPr>
          <p:cNvSpPr/>
          <p:nvPr/>
        </p:nvSpPr>
        <p:spPr>
          <a:xfrm>
            <a:off x="4330058" y="3647951"/>
            <a:ext cx="914400" cy="3657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anchor="ctr" anchorCtr="0">
            <a:noAutofit/>
            <a:flatTx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Product Management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F21FE-246E-3350-53FA-D1D3D9CF3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54190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0254E3A-5F41-AE6D-52DE-046092C65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41948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BD65F45-7FB2-9B2A-97E2-267FE82C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97071" y="2249089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57E5DD7E-1BD6-D253-F58D-FBA5B81D5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768" y="286950"/>
            <a:ext cx="3337035" cy="164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64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Custom 59">
      <a:dk1>
        <a:srgbClr val="000000"/>
      </a:dk1>
      <a:lt1>
        <a:sysClr val="window" lastClr="FFFFFF"/>
      </a:lt1>
      <a:dk2>
        <a:srgbClr val="8439BD"/>
      </a:dk2>
      <a:lt2>
        <a:srgbClr val="FFFFFF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036B3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610394_win32_fixed.potx" id="{CE4DE224-35EE-4FFB-91F7-E6D3363E3863}" vid="{259F12BF-61ED-4CB6-A4D7-CBEED2A33A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Color-coded organization chart</Template>
  <TotalTime>0</TotalTime>
  <Words>77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 Light</vt:lpstr>
      <vt:lpstr>Calibri</vt:lpstr>
      <vt:lpstr>Speak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 Abdelfattah Alfeky</dc:creator>
  <cp:lastModifiedBy>Adel Abdelfattah Alfeky</cp:lastModifiedBy>
  <cp:revision>2</cp:revision>
  <dcterms:created xsi:type="dcterms:W3CDTF">2025-07-29T08:55:24Z</dcterms:created>
  <dcterms:modified xsi:type="dcterms:W3CDTF">2025-11-25T06:51:14Z</dcterms:modified>
</cp:coreProperties>
</file>